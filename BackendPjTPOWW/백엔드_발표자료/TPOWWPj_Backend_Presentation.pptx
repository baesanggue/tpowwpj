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0080"/>
                </a:solidFill>
              </a:defRPr>
            </a:pPr>
            <a:r>
              <a:t>TPOWWPj 백엔드 기말 프로젝트 발표 자료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Backend Final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0080"/>
                </a:solidFill>
              </a:defRPr>
            </a:pPr>
            <a:r>
              <a:t>📋 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[프로젝트 개요](#1-프로젝트-개요)</a:t>
            </a:r>
          </a:p>
          <a:p>
            <a:pPr/>
            <a:r>
              <a:t>2. [시스템 아키텍처](#2-시스템-아키텍처)</a:t>
            </a:r>
          </a:p>
          <a:p>
            <a:pPr/>
            <a:r>
              <a:t>3. [핵심 기능 구현](#3-핵심-기능-구현)</a:t>
            </a:r>
          </a:p>
          <a:p>
            <a:pPr/>
            <a:r>
              <a:t>4. [주요 코드 설명](#4-주요-코드-설명)</a:t>
            </a:r>
          </a:p>
          <a:p>
            <a:pPr/>
            <a:r>
              <a:t>5. [개발 과정 및 개선](#5-개발-과정-및-개선)</a:t>
            </a:r>
          </a:p>
          <a:p>
            <a:pPr/>
            <a:r>
              <a:t>6. [학습 내용 및 성과](#6-학습-내용-및-성과)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0080"/>
                </a:solidFill>
              </a:defRPr>
            </a:pPr>
            <a:r>
              <a:t>1. 프로젝트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1.1 프로젝트 소개</a:t>
            </a:r>
          </a:p>
          <a:p>
            <a:pPr/>
            <a:r>
              <a:t>**프로젝트명**: TPOWWPj (TPO + Weather + Where)</a:t>
            </a:r>
          </a:p>
          <a:p>
            <a:pPr/>
            <a:r>
              <a:t>**목표**: 날씨 정보를 기반으로 사용자 맞춤형 복장을 AI가 추천하는 웹 서비스</a:t>
            </a:r>
          </a:p>
          <a:p>
            <a:pPr/>
            <a:r>
              <a:t>**핵심 가치**:</a:t>
            </a:r>
          </a:p>
          <a:p>
            <a:pPr/>
            <a:r>
              <a:t>🌤️ **사용자 지역 기반** 맞춤형 날씨 정보</a:t>
            </a:r>
          </a:p>
          <a:p>
            <a:pPr/>
            <a:r>
              <a:t>🤖 **AI 기반** 날씨와 TPO를 고려한 코디 추천</a:t>
            </a:r>
          </a:p>
          <a:p>
            <a:pPr/>
            <a:r>
              <a:t>📊 **3가지 날씨 API** 통합 (현재/단기/중기)</a:t>
            </a:r>
          </a:p>
          <a:p>
            <a:pPr/>
            <a:r>
              <a:t>👤 **개인화된** 선호도 반영 서비스</a:t>
            </a:r>
          </a:p>
          <a:p>
            <a:pPr>
              <a:defRPr b="1"/>
            </a:pPr>
            <a:r>
              <a:t>1.2 기능 요구사항</a:t>
            </a:r>
          </a:p>
          <a:p>
            <a:pPr lvl="1">
              <a:defRPr b="1"/>
            </a:pPr>
            <a:r>
              <a:t>필수 기능</a:t>
            </a:r>
          </a:p>
          <a:p>
            <a:pPr/>
            <a:r>
              <a:t>✅ 회원 관리 (가입, 로그인, 마이페이지, 관리자)</a:t>
            </a:r>
          </a:p>
          <a:p>
            <a:pPr/>
            <a:r>
              <a:t>✅ 날씨 조회 (초단기실황, 단기예보, 중기예보)</a:t>
            </a:r>
          </a:p>
          <a:p>
            <a:pPr/>
            <a:r>
              <a:t>✅ AI 코디 추천 (Gemini API 연동)</a:t>
            </a:r>
          </a:p>
          <a:p>
            <a:pPr/>
            <a:r>
              <a:t>✅ 히스토리 관리 (추천 이력 저장 및 조회)</a:t>
            </a:r>
          </a:p>
          <a:p>
            <a:pPr lvl="1">
              <a:defRPr b="1"/>
            </a:pPr>
            <a:r>
              <a:t>부가 기능</a:t>
            </a:r>
          </a:p>
          <a:p>
            <a:pPr/>
            <a:r>
              <a:t>✅ 지역별 좌표 자동 매핑 (250+ 시군구)</a:t>
            </a:r>
          </a:p>
          <a:p>
            <a:pPr/>
            <a:r>
              <a:t>✅ 날짜별 날씨 자동 선택 (단기/중기 전환)</a:t>
            </a:r>
          </a:p>
          <a:p>
            <a:pPr/>
            <a:r>
              <a:t>✅ 동적 날씨 이모지 및 강수확률 표시</a:t>
            </a:r>
          </a:p>
          <a:p>
            <a:pPr/>
            <a:r>
              <a:t>✅ 추천 이유 분리 표시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0080"/>
                </a:solidFill>
              </a:defRPr>
            </a:pPr>
            <a:r>
              <a:t>2. 시스템 아키텍처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2.1 전체 시스템 구조</a:t>
            </a:r>
          </a:p>
          <a:p>
            <a:pPr>
              <a:defRPr b="1"/>
            </a:pPr>
            <a:r>
              <a:t>2.2 패키지 구조</a:t>
            </a:r>
          </a:p>
          <a:p>
            <a:pPr>
              <a:defRPr b="1"/>
            </a:pPr>
            <a:r>
              <a:t>2.3 데이터베이스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365760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flowchart TB</a:t>
            </a:r>
            <a:br/>
            <a:r>
              <a:t>    subgraph Client["클라이언트 계층"]</a:t>
            </a:r>
            <a:br/>
            <a:r>
              <a:t>        JSP["JSP 페이지&lt;br/&gt;(main.jsp, tpo.jsp, tpoResult.jsp)"]</a:t>
            </a:r>
            <a:br/>
            <a:r>
              <a:t>    end</a:t>
            </a:r>
            <a:br/>
            <a:br/>
            <a:r>
              <a:t>    subgraph Presentation["프레젠테이션 계층"]</a:t>
            </a:r>
            <a:br/>
            <a:r>
              <a:t>        Servlet1["WeatherServlet"]</a:t>
            </a:r>
            <a:br/>
            <a:r>
              <a:t>        Servlet2["TpoRecommendServlet"]</a:t>
            </a:r>
            <a:br/>
            <a:r>
              <a:t>        Servlet3["LoginServlet"]</a:t>
            </a:r>
            <a:br/>
            <a:r>
              <a:t>        Servlet4["MyPageServlet"]</a:t>
            </a:r>
            <a:br/>
            <a:r>
              <a:t>    end</a:t>
            </a:r>
            <a:br/>
            <a:br/>
            <a:r>
              <a:t>    subgraph Business["비즈니스 계층"]</a:t>
            </a:r>
            <a:br/>
            <a:r>
              <a:t>        Service1["TpoService"]</a:t>
            </a:r>
            <a:br/>
            <a:r>
              <a:t>        Service2["GeminiClient"]</a:t>
            </a:r>
            <a:br/>
            <a:r>
              <a:t>        Service3["LocationCoord"]</a:t>
            </a:r>
            <a:br/>
            <a:r>
              <a:t>    end</a:t>
            </a:r>
            <a:br/>
            <a:br/>
            <a:r>
              <a:t>    subgraph Data["데이터 계층"]</a:t>
            </a:r>
            <a:br/>
            <a:r>
              <a:t>        DAO1["UserDAO"]</a:t>
            </a:r>
            <a:br/>
            <a:r>
              <a:t>        DAO2["TpoHistoryDAO"]</a:t>
            </a:r>
            <a:br/>
            <a:r>
              <a:t>        DAO3["UserPrefDAO"]</a:t>
            </a:r>
            <a:br/>
            <a:r>
              <a:t>    end</a:t>
            </a:r>
            <a:br/>
            <a:br/>
            <a:r>
              <a:t>    subgraph External["외부 API"]</a:t>
            </a:r>
            <a:br/>
            <a:r>
              <a:t>        API1["기상청 API&lt;br/&gt;(초단기/단기/중기)"]</a:t>
            </a:r>
            <a:br/>
            <a:r>
              <a:t>        API2["Gemini AI API"]</a:t>
            </a:r>
            <a:br/>
            <a:r>
              <a:t>    end</a:t>
            </a:r>
            <a:br/>
            <a:br/>
            <a:r>
              <a:t>    subgraph Database["데이터베이스"]</a:t>
            </a:r>
            <a:br/>
            <a:r>
              <a:t>        DB[("MySQL&lt;br/&gt;user, tpo_history&lt;br/&gt;user_pref")]</a:t>
            </a:r>
            <a:br/>
            <a:r>
              <a:t>    end</a:t>
            </a:r>
            <a:br/>
            <a:br/>
            <a:r>
              <a:t>    JSP --&gt; Servlet1</a:t>
            </a:r>
            <a:br/>
            <a:r>
              <a:t>    JSP --&gt; Servlet2</a:t>
            </a:r>
            <a:br/>
            <a:r>
              <a:t>    JSP --&gt; Servlet3</a:t>
            </a:r>
            <a:br/>
            <a:r>
              <a:t>    JSP --&gt; Servlet4</a:t>
            </a:r>
            <a:br/>
            <a:br/>
            <a:r>
              <a:t>    Servlet1 --&gt; Service3</a:t>
            </a:r>
            <a:br/>
            <a:r>
              <a:t>    Servlet1 --&gt; API1</a:t>
            </a:r>
            <a:br/>
            <a:r>
              <a:t>    Servlet2 --&gt; Service1</a:t>
            </a:r>
            <a:br/>
            <a:r>
              <a:t>    Service1 --&gt; Service2</a:t>
            </a:r>
            <a:br/>
            <a:r>
              <a:t>    Service2 --&gt; API2</a:t>
            </a:r>
            <a:br/>
            <a:br/>
            <a:r>
              <a:t>    Servlet3 --&gt; </a:t>
            </a:r>
            <a:br/>
            <a:r>
              <a:t>... (Code Truncated)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365760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com.dongyang.TPOWW</a:t>
            </a:r>
            <a:br/>
            <a:r>
              <a:t>├── ai/                    # AI 연동</a:t>
            </a:r>
            <a:br/>
            <a:r>
              <a:t>│   ├── LlmClient.java          (인터페이스)</a:t>
            </a:r>
            <a:br/>
            <a:r>
              <a:t>│   └── GeminiClient.java       (Gemini 구현체)</a:t>
            </a:r>
            <a:br/>
            <a:r>
              <a:t>├── controller/           # 서블릿 컨트롤러</a:t>
            </a:r>
            <a:br/>
            <a:r>
              <a:t>│   ├── TpoRecommendServlet.java</a:t>
            </a:r>
            <a:br/>
            <a:r>
              <a:t>│   └── ...</a:t>
            </a:r>
            <a:br/>
            <a:r>
              <a:t>├── tpo/                  # TPO 추천 비즈니스 로직</a:t>
            </a:r>
            <a:br/>
            <a:r>
              <a:t>│   ├── TpoService.java</a:t>
            </a:r>
            <a:br/>
            <a:r>
              <a:t>│   ├── TpoRequest.java</a:t>
            </a:r>
            <a:br/>
            <a:r>
              <a:t>│   ├── TpoResult.java</a:t>
            </a:r>
            <a:br/>
            <a:r>
              <a:t>│   ├── TpoHistoryDAO.java</a:t>
            </a:r>
            <a:br/>
            <a:r>
              <a:t>│   └── TpoHistoryDTO.java</a:t>
            </a:r>
            <a:br/>
            <a:r>
              <a:t>├── weather/              # 날씨 서비스</a:t>
            </a:r>
            <a:br/>
            <a:r>
              <a:t>│   ├── WeatherServlet.java</a:t>
            </a:r>
            <a:br/>
            <a:r>
              <a:t>│   ├── LocationCoord.java      (좌표 매핑)</a:t>
            </a:r>
            <a:br/>
            <a:r>
              <a:t>│   ├── MidTermLocation.java    (중기예보 지역코드)</a:t>
            </a:r>
            <a:br/>
            <a:r>
              <a:t>│   └── ...</a:t>
            </a:r>
            <a:br/>
            <a:r>
              <a:t>├── member/               # 회원 관리</a:t>
            </a:r>
            <a:br/>
            <a:r>
              <a:t>│   ├── UserDAO.java</a:t>
            </a:r>
            <a:br/>
            <a:r>
              <a:t>│   ├── UserDTO.java</a:t>
            </a:r>
            <a:br/>
            <a:r>
              <a:t>│   └── ...</a:t>
            </a:r>
            <a:br/>
            <a:r>
              <a:t>└── util/                 # 유틸리티</a:t>
            </a:r>
            <a:br/>
            <a:r>
              <a:t>    └── AppConfig.java          (API 키 관리)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229600" cy="365760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erDiagram</a:t>
            </a:r>
            <a:br/>
            <a:r>
              <a:t>    USER ||--o{ TPO_HISTORY : creates</a:t>
            </a:r>
            <a:br/>
            <a:r>
              <a:t>    USER ||--|| USER_PREF : has</a:t>
            </a:r>
            <a:br/>
            <a:br/>
            <a:r>
              <a:t>    USER {</a:t>
            </a:r>
            <a:br/>
            <a:r>
              <a:t>        string un PK</a:t>
            </a:r>
            <a:br/>
            <a:r>
              <a:t>        string id</a:t>
            </a:r>
            <a:br/>
            <a:r>
              <a:t>        string pw</a:t>
            </a:r>
            <a:br/>
            <a:r>
              <a:t>        string name</a:t>
            </a:r>
            <a:br/>
            <a:r>
              <a:t>        int age</a:t>
            </a:r>
            <a:br/>
            <a:r>
              <a:t>        string gender</a:t>
            </a:r>
            <a:br/>
            <a:r>
              <a:t>        string region</a:t>
            </a:r>
            <a:br/>
            <a:r>
              <a:t>        string sigungu</a:t>
            </a:r>
            <a:br/>
            <a:r>
              <a:t>        string role</a:t>
            </a:r>
            <a:br/>
            <a:r>
              <a:t>    }</a:t>
            </a:r>
            <a:br/>
            <a:br/>
            <a:r>
              <a:t>    TPO_HISTORY {</a:t>
            </a:r>
            <a:br/>
            <a:r>
              <a:t>        int history_id PK</a:t>
            </a:r>
            <a:br/>
            <a:r>
              <a:t>        string un FK</a:t>
            </a:r>
            <a:br/>
            <a:r>
              <a:t>        string request_date</a:t>
            </a:r>
            <a:br/>
            <a:r>
              <a:t>        string request_time</a:t>
            </a:r>
            <a:br/>
            <a:r>
              <a:t>        string what</a:t>
            </a:r>
            <a:br/>
            <a:r>
              <a:t>        text weather_summary</a:t>
            </a:r>
            <a:br/>
            <a:r>
              <a:t>        text ai_recommend</a:t>
            </a:r>
            <a:br/>
            <a:r>
              <a:t>        text reason_summary</a:t>
            </a:r>
            <a:br/>
            <a:r>
              <a:t>        datetime created_at</a:t>
            </a:r>
            <a:br/>
            <a:r>
              <a:t>    }</a:t>
            </a:r>
            <a:br/>
            <a:br/>
            <a:r>
              <a:t>    USER_PREF {</a:t>
            </a:r>
            <a:br/>
            <a:r>
              <a:t>        string un PK,FK</a:t>
            </a:r>
            <a:br/>
            <a:r>
              <a:t>        string brand</a:t>
            </a:r>
            <a:br/>
            <a:r>
              <a:t>        string color</a:t>
            </a:r>
            <a:br/>
            <a:r>
              <a:t>        string pcolor</a:t>
            </a:r>
            <a:br/>
            <a:r>
              <a:t>    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0080"/>
                </a:solidFill>
              </a:defRPr>
            </a:pPr>
            <a:r>
              <a:t>3. 핵심 기능 구현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3.1 날씨 API 연동</a:t>
            </a:r>
          </a:p>
          <a:p>
            <a:pPr lvl="1">
              <a:defRPr b="1"/>
            </a:pPr>
            <a:r>
              <a:t>🌡️ 초단기실황조회 (현재 날씨)</a:t>
            </a:r>
          </a:p>
          <a:p>
            <a:pPr/>
            <a:r>
              <a:t>**목적**: 현재 기온, 습도, 강수량, 바람 등 실시간 날씨 정보 제공</a:t>
            </a:r>
          </a:p>
          <a:p>
            <a:pPr/>
            <a:r>
              <a:t>**핵심 로직**:</a:t>
            </a:r>
          </a:p>
          <a:p>
            <a:pPr/>
            <a:r>
              <a:t>**주요 파라미터**:</a:t>
            </a:r>
          </a:p>
          <a:p>
            <a:pPr/>
            <a:r>
              <a:t>`base_date`: 발표 날짜 (yyyyMMdd)</a:t>
            </a:r>
          </a:p>
          <a:p>
            <a:pPr/>
            <a:r>
              <a:t>`base_time`: 발표 시각 (HHmm) - 매시 40분경 발표</a:t>
            </a:r>
          </a:p>
          <a:p>
            <a:pPr/>
            <a:r>
              <a:t>`nx`, `ny`: 격자 좌표</a:t>
            </a:r>
          </a:p>
          <a:p>
            <a:pPr lvl="1">
              <a:defRPr b="1"/>
            </a:pPr>
            <a:r>
              <a:t>📅 단기예보조회 (3일 이내)</a:t>
            </a:r>
          </a:p>
          <a:p>
            <a:pPr/>
            <a:r>
              <a:t>**목적**: 3일 이내의 시간대별 상세 예보</a:t>
            </a:r>
          </a:p>
          <a:p>
            <a:pPr/>
            <a:r>
              <a:t>**발표 시각**: 02, 05, 08, 11, 14, 17, 20, 23시 (하루 8회)</a:t>
            </a:r>
          </a:p>
          <a:p>
            <a:pPr/>
            <a:r>
              <a:t>**추출 데이터**:</a:t>
            </a:r>
          </a:p>
          <a:p>
            <a:pPr/>
            <a:r>
              <a:t>`TMP`: 기온</a:t>
            </a:r>
          </a:p>
          <a:p>
            <a:pPr/>
            <a:r>
              <a:t>`SKY`: 하늘상태 (1:맑음, 3:구름많음, 4:흐림)</a:t>
            </a:r>
          </a:p>
          <a:p>
            <a:pPr/>
            <a:r>
              <a:t>`PTY`: 강수형태 (0:없음, 1:비, 2:비/눈, 3:눈, 4:소나기)</a:t>
            </a:r>
          </a:p>
          <a:p>
            <a:pPr/>
            <a:r>
              <a:t>`POP`: 강수확률</a:t>
            </a:r>
          </a:p>
          <a:p>
            <a:pPr/>
            <a:r>
              <a:t>`WSD`: 풍속</a:t>
            </a:r>
          </a:p>
          <a:p>
            <a:pPr lvl="1">
              <a:defRPr b="1"/>
            </a:pPr>
            <a:r>
              <a:t>🔮 중기예보조회 (3~10일 후)</a:t>
            </a:r>
          </a:p>
          <a:p>
            <a:pPr/>
            <a:r>
              <a:t>**목적**: 장기 날씨 예측</a:t>
            </a:r>
          </a:p>
          <a:p>
            <a:pPr/>
            <a:r>
              <a:t>**제공 데이터**:</a:t>
            </a:r>
          </a:p>
          <a:p>
            <a:pPr/>
            <a:r>
              <a:t>3~7일: 기온 + 날씨 상태 + 강수확률</a:t>
            </a:r>
          </a:p>
          <a:p>
            <a:pPr/>
            <a:r>
              <a:t>8~10일: 기온만 제공</a:t>
            </a:r>
          </a:p>
          <a:p>
            <a:pPr/>
            <a:r>
              <a:t>**중기예보 지역 코드 매핑**:</a:t>
            </a:r>
          </a:p>
          <a:p>
            <a:pPr>
              <a:defRPr b="1"/>
            </a:pPr>
            <a:r>
              <a:t>3.2 지역 좌표 매핑 시스템</a:t>
            </a:r>
          </a:p>
          <a:p>
            <a:pPr lvl="1">
              <a:defRPr b="1"/>
            </a:pPr>
            <a:r>
              <a:t>📍 LocationCoord 클래스</a:t>
            </a:r>
          </a:p>
          <a:p>
            <a:pPr/>
            <a:r>
              <a:t>**목적**: 전국 시/군/구를 기상청 격자 좌표로 변환</a:t>
            </a:r>
          </a:p>
          <a:p>
            <a:pPr/>
            <a:r>
              <a:t>**구현 방식**: Static HashMap에 250+ 개 좌표 매핑</a:t>
            </a:r>
          </a:p>
          <a:p>
            <a:pPr/>
            <a:r>
              <a:t>**사용 예시**:</a:t>
            </a:r>
          </a:p>
          <a:p>
            <a:pPr>
              <a:defRPr b="1"/>
            </a:pPr>
            <a:r>
              <a:t>3.3 AI 코디 추천 시스템</a:t>
            </a:r>
          </a:p>
          <a:p>
            <a:pPr lvl="1">
              <a:defRPr b="1"/>
            </a:pPr>
            <a:r>
              <a:t>🤖 Gemini API 연동</a:t>
            </a:r>
          </a:p>
          <a:p>
            <a:pPr/>
            <a:r>
              <a:t>**흐름도**:</a:t>
            </a:r>
          </a:p>
          <a:p>
            <a:pPr/>
            <a:r>
              <a:t>**프롬프트 구성**:</a:t>
            </a:r>
          </a:p>
          <a:p>
            <a:pPr/>
            <a:r>
              <a:t>**AI 응답 파싱**:</a:t>
            </a:r>
          </a:p>
          <a:p>
            <a:pPr>
              <a:defRPr b="1"/>
            </a:pPr>
            <a:r>
              <a:t>3.4 사용자 입력 날짜의 날씨 반영</a:t>
            </a:r>
          </a:p>
          <a:p>
            <a:pPr/>
            <a:r>
              <a:t>**문제**: 초기에는 현재 날씨만 제공 → **개선**: 사용자가 선택한 날짜의 날씨 제공</a:t>
            </a:r>
          </a:p>
          <a:p>
            <a:pPr/>
            <a:r>
              <a:t>**구현 로직**: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365760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// WeatherServlet.java - doGet() 메서드</a:t>
            </a:r>
            <a:br/>
            <a:r>
              <a:t>String ultraSrtNcstUrl = buildUrl("getUltraSrtNcst",</a:t>
            </a:r>
            <a:br/>
            <a:r>
              <a:t>                                    liveBaseDate, liveBaseTime, nx, ny);</a:t>
            </a:r>
            <a:br/>
            <a:r>
              <a:t>String jsonResponse = readUrl(ultraSrtNcstUrl);</a:t>
            </a:r>
            <a:br/>
            <a:br/>
            <a:r>
              <a:t>// JSON에서 필요한 값 추출</a:t>
            </a:r>
            <a:br/>
            <a:r>
              <a:t>String t1h = extractValue(jsonResponse, "T1H");      // 기온</a:t>
            </a:r>
            <a:br/>
            <a:r>
              <a:t>String reh = extractValue(jsonResponse, "REH");      // 습도</a:t>
            </a:r>
            <a:br/>
            <a:r>
              <a:t>String rn1 = extractValue(jsonResponse, "RN1");      // 강수량</a:t>
            </a:r>
            <a:br/>
            <a:r>
              <a:t>String pty = extractValue(jsonResponse, "PTY");      // 강수형태</a:t>
            </a:r>
            <a:br/>
            <a:br/>
            <a:r>
              <a:t>// 세션에 저장</a:t>
            </a:r>
            <a:br/>
            <a:r>
              <a:t>session.setAttribute("t1h", t1h);</a:t>
            </a:r>
            <a:br/>
            <a:r>
              <a:t>session.setAttribute("reh", reh);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365760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// 발표 시각 자동 계산</a:t>
            </a:r>
            <a:br/>
            <a:r>
              <a:t>String[] baseTimes = {"0200", "0500", "0800", "1100",</a:t>
            </a:r>
            <a:br/>
            <a:r>
              <a:t>                      "1400", "1700", "2000", "2300"};</a:t>
            </a:r>
            <a:br/>
            <a:r>
              <a:t>int currentHHmm = Integer.parseInt(now.format(</a:t>
            </a:r>
            <a:br/>
            <a:r>
              <a:t>                        DateTimeFormatter.ofPattern("HHmm")));</a:t>
            </a:r>
            <a:br/>
            <a:br/>
            <a:r>
              <a:t>for (int i = baseTimes.length - 1; i &gt;= 0; i--) {</a:t>
            </a:r>
            <a:br/>
            <a:r>
              <a:t>    int bt = Integer.parseInt(baseTimes[i]);</a:t>
            </a:r>
            <a:br/>
            <a:r>
              <a:t>    if (currentHHmm &gt; bt + 10) {  // 발표 후 10분 뒤부터 안정</a:t>
            </a:r>
            <a:br/>
            <a:r>
              <a:t>        fcstBaseTime = baseTimes[i];</a:t>
            </a:r>
            <a:br/>
            <a:r>
              <a:t>        break;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229600" cy="365760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// MidTermLocation.java</a:t>
            </a:r>
            <a:br/>
            <a:r>
              <a:t>public static String getLandCode(String region) {</a:t>
            </a:r>
            <a:br/>
            <a:r>
              <a:t>    switch(region) {</a:t>
            </a:r>
            <a:br/>
            <a:r>
              <a:t>        case "Seoul": return "11B00000";</a:t>
            </a:r>
            <a:br/>
            <a:r>
              <a:t>        case "Busan": return "11H20000";</a:t>
            </a:r>
            <a:br/>
            <a:r>
              <a:t>        // ... 전국 17개 시도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8229600" cy="365760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// LocationCoord.java</a:t>
            </a:r>
            <a:br/>
            <a:r>
              <a:t>private static final Map&lt;String, Point&gt; coordMap = new HashMap&lt;&gt;();</a:t>
            </a:r>
            <a:br/>
            <a:br/>
            <a:r>
              <a:t>static {</a:t>
            </a:r>
            <a:br/>
            <a:r>
              <a:t>    // 서울특별시</a:t>
            </a:r>
            <a:br/>
            <a:r>
              <a:t>    add("Seoul", "종로구", "60", "127");</a:t>
            </a:r>
            <a:br/>
            <a:r>
              <a:t>    add("Seoul", "중구", "60", "127");</a:t>
            </a:r>
            <a:br/>
            <a:r>
              <a:t>    add("Seoul", "강남구", "61", "126");</a:t>
            </a:r>
            <a:br/>
            <a:r>
              <a:t>    // ... 총 250+ 개 시군구</a:t>
            </a:r>
            <a:br/>
            <a:br/>
            <a:r>
              <a:t>    // 경기도</a:t>
            </a:r>
            <a:br/>
            <a:r>
              <a:t>    add("Gyeonggi", "수원시 장안구", "60", "121");</a:t>
            </a:r>
            <a:br/>
            <a:r>
              <a:t>    // ...</a:t>
            </a:r>
            <a:br/>
            <a:r>
              <a:t>}</a:t>
            </a:r>
            <a:br/>
            <a:br/>
            <a:r>
              <a:t>public static Point getCoordinate(String region, String sigungu) {</a:t>
            </a:r>
            <a:br/>
            <a:r>
              <a:t>    return coordMap.getOrDefault(region + "_" + sigungu,</a:t>
            </a:r>
            <a:br/>
            <a:r>
              <a:t>                                new Point("60", "127")); // 기본값: 서울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8229600" cy="365760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// 사용자 정보에서 지역 가져오기</a:t>
            </a:r>
            <a:br/>
            <a:r>
              <a:t>String region = udto.getRegion();      // "Seoul"</a:t>
            </a:r>
            <a:br/>
            <a:r>
              <a:t>String sigungu = udto.getSigungu();    // "강남구"</a:t>
            </a:r>
            <a:br/>
            <a:br/>
            <a:r>
              <a:t>// 좌표 조회</a:t>
            </a:r>
            <a:br/>
            <a:r>
              <a:t>Point pt = LocationCoord.getCoordinate(region, sigungu);</a:t>
            </a:r>
            <a:br/>
            <a:r>
              <a:t>String nx = pt.x;  // "61"</a:t>
            </a:r>
            <a:br/>
            <a:r>
              <a:t>String ny = pt.y;  // "126"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8229600" cy="365760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sequenceDiagram</a:t>
            </a:r>
            <a:br/>
            <a:r>
              <a:t>    participant User as 사용자</a:t>
            </a:r>
            <a:br/>
            <a:r>
              <a:t>    participant Servlet as TpoRecommendServlet</a:t>
            </a:r>
            <a:br/>
            <a:r>
              <a:t>    participant Service as TpoService</a:t>
            </a:r>
            <a:br/>
            <a:r>
              <a:t>    participant Client as GeminiClient</a:t>
            </a:r>
            <a:br/>
            <a:r>
              <a:t>    participant API as Gemini API</a:t>
            </a:r>
            <a:br/>
            <a:br/>
            <a:r>
              <a:t>    User-&gt;&gt;Servlet: TPO 정보 입력</a:t>
            </a:r>
            <a:br/>
            <a:r>
              <a:t>    Servlet-&gt;&gt;Servlet: 세션에서 날씨 데이터 조회</a:t>
            </a:r>
            <a:br/>
            <a:r>
              <a:t>    Servlet-&gt;&gt;Service: recommend(TpoRequest)</a:t>
            </a:r>
            <a:br/>
            <a:r>
              <a:t>    Service-&gt;&gt;Service: buildPrompt() - 프롬프트 생성</a:t>
            </a:r>
            <a:br/>
            <a:r>
              <a:t>    Service-&gt;&gt;Client: generate(prompt)</a:t>
            </a:r>
            <a:br/>
            <a:r>
              <a:t>    Client-&gt;&gt;API: POST /generateContent</a:t>
            </a:r>
            <a:br/>
            <a:r>
              <a:t>    API--&gt;&gt;Client: JSON 응답</a:t>
            </a:r>
            <a:br/>
            <a:r>
              <a:t>    Client--&gt;&gt;Service: AI 텍스트 반환</a:t>
            </a:r>
            <a:br/>
            <a:r>
              <a:t>    Service-&gt;&gt;Service: 이유/추천 분리 파싱</a:t>
            </a:r>
            <a:br/>
            <a:r>
              <a:t>    Service--&gt;&gt;Servlet: TpoResult 반환</a:t>
            </a:r>
            <a:br/>
            <a:r>
              <a:t>    Servlet-&gt;&gt;User: tpoResult.jsp로 이동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8229600" cy="365760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// TpoService.java - buildPrompt()</a:t>
            </a:r>
            <a:br/>
            <a:r>
              <a:t>StringBuilder sb = new StringBuilder();</a:t>
            </a:r>
            <a:br/>
            <a:br/>
            <a:r>
              <a:t>sb.append("너는 한국 사용자를 위한 패션 코디 전문 AI 스타일리스트야.\n");</a:t>
            </a:r>
            <a:br/>
            <a:r>
              <a:t>sb.append("아래 조건과 날씨에 맞는 코디를 추천해줘.\n\n");</a:t>
            </a:r>
            <a:br/>
            <a:br/>
            <a:r>
              <a:t>// 기본 정보</a:t>
            </a:r>
            <a:br/>
            <a:r>
              <a:t>sb.append("## 기본 정보\n");</a:t>
            </a:r>
            <a:br/>
            <a:r>
              <a:t>sb.append("- 성별: ").append(req.getGender()).append("\n");</a:t>
            </a:r>
            <a:br/>
            <a:r>
              <a:t>sb.append("- 나이: ").append(req.getAge()).append("세\n");</a:t>
            </a:r>
            <a:br/>
            <a:r>
              <a:t>sb.append("- 날짜/시간: ").append(req.getDate())</a:t>
            </a:r>
            <a:br/>
            <a:r>
              <a:t>  .append(" ").append(req.getTime()).append("\n");</a:t>
            </a:r>
            <a:br/>
            <a:r>
              <a:t>sb.append("- 활동: ").append(req.getWhat()).append("\n");</a:t>
            </a:r>
            <a:br/>
            <a:br/>
            <a:r>
              <a:t>// 날씨 정보</a:t>
            </a:r>
            <a:br/>
            <a:r>
              <a:t>sb.append("\n## 날씨 정보\n");</a:t>
            </a:r>
            <a:br/>
            <a:r>
              <a:t>sb.append(weatherSummary).append("\n");</a:t>
            </a:r>
            <a:br/>
            <a:br/>
            <a:r>
              <a:t>// 선호 정보</a:t>
            </a:r>
            <a:br/>
            <a:r>
              <a:t>sb.append("\n## 선호 정보\n");</a:t>
            </a:r>
            <a:br/>
            <a:r>
              <a:t>sb.append("- 선호 브랜드: ").append(req.getBrand()).append("\n");</a:t>
            </a:r>
            <a:br/>
            <a:r>
              <a:t>sb.append("- 선호 색상: ").append(req.getColor()).append("\n");</a:t>
            </a:r>
            <a:br/>
            <a:r>
              <a:t>sb.append("- 퍼스널 컬러: ").append(req.getPcolor()).append("\n");</a:t>
            </a:r>
            <a:br/>
            <a:br/>
            <a:r>
              <a:t>// 요구사항</a:t>
            </a:r>
            <a:br/>
            <a:r>
              <a:t>sb.append("\n## 요구사항\n");</a:t>
            </a:r>
            <a:br/>
            <a:r>
              <a:t>sb.append("[이유]...[/이유] 태그 안에 추천 이유를 2-3문장으로 작성\n");</a:t>
            </a:r>
            <a:br/>
            <a:r>
              <a:t>sb.append("모자, 액세서리, 상의, 하의, 양말, 신발, 기타 항목별로 추천\n");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8229600" cy="365760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// TpoService.java - recommend()</a:t>
            </a:r>
            <a:br/>
            <a:r>
              <a:t>String aiText = llmClient.generate(prompt);</a:t>
            </a:r>
            <a:br/>
            <a:r>
              <a:t>String reasonSummary = "";</a:t>
            </a:r>
            <a:br/>
            <a:r>
              <a:t>String aiRecommend = aiText;</a:t>
            </a:r>
            <a:br/>
            <a:br/>
            <a:r>
              <a:t>// [이유]...[/이유] 태그로 분리</a:t>
            </a:r>
            <a:br/>
            <a:r>
              <a:t>if (aiText.contains("[이유]") &amp;&amp; aiText.contains("[/이유]")) {</a:t>
            </a:r>
            <a:br/>
            <a:r>
              <a:t>    int startIdx = aiText.indexOf("[이유]") + 5;</a:t>
            </a:r>
            <a:br/>
            <a:r>
              <a:t>    int endIdx = aiText.indexOf("[/이유]");</a:t>
            </a:r>
            <a:br/>
            <a:r>
              <a:t>    if (startIdx &lt; endIdx) {</a:t>
            </a:r>
            <a:br/>
            <a:r>
              <a:t>        reasonSummary = aiText.substring(startIdx, endIdx).trim();</a:t>
            </a:r>
            <a:br/>
            <a:r>
              <a:t>        aiRecommend = aiText.substring(endIdx + 6).trim();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8229600" cy="365760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// TpoRecommendServlet.java - doPost()</a:t>
            </a:r>
            <a:br/>
            <a:r>
              <a:t>String whenDateStr = request.getParameter("whenDate");</a:t>
            </a:r>
            <a:br/>
            <a:r>
              <a:t>LocalDate today = LocalDate.now();</a:t>
            </a:r>
            <a:br/>
            <a:r>
              <a:t>LocalDate targetDate = LocalDate.parse(whenDateStr);</a:t>
            </a:r>
            <a:br/>
            <a:r>
              <a:t>long daysDiff = ChronoUnit.DAYS.between(today, targetDate);</a:t>
            </a:r>
            <a:br/>
            <a:br/>
            <a:r>
              <a:t>if (daysDiff &gt;= 5 &amp;&amp; daysDiff &lt;= 12) {</a:t>
            </a:r>
            <a:br/>
            <a:r>
              <a:t>    // 중기예보 사용</a:t>
            </a:r>
            <a:br/>
            <a:r>
              <a:t>    String midLandJson = session.getAttribute("midLandJson");</a:t>
            </a:r>
            <a:br/>
            <a:r>
              <a:t>    String midTaJson = session.getAttribute("midTaJson");</a:t>
            </a:r>
            <a:br/>
            <a:br/>
            <a:r>
              <a:t>    int targetDay = (int) daysDiff;</a:t>
            </a:r>
            <a:br/>
            <a:r>
              <a:t>    String minTemp = extractJsonValue(midTaJson, "taMin" + targetDay);</a:t>
            </a:r>
            <a:br/>
            <a:r>
              <a:t>    String maxTemp = extractJsonValue(midTaJson, "taMax" + targetDay);</a:t>
            </a:r>
            <a:br/>
            <a:br/>
            <a:r>
              <a:t>    weatherInfo.append(daysDiff).append("일 후 예상 날씨: ");</a:t>
            </a:r>
            <a:br/>
            <a:r>
              <a:t>    weatherInfo.append("최저 ").append(minTemp).append("°C, ");</a:t>
            </a:r>
            <a:br/>
            <a:r>
              <a:t>    weatherInfo.append("최고 ").append(maxTemp).append("°C");</a:t>
            </a:r>
            <a:br/>
            <a:br/>
            <a:r>
              <a:t>} else {</a:t>
            </a:r>
            <a:br/>
            <a:r>
              <a:t>    // 단기예보 사용 (3일 이내)</a:t>
            </a:r>
            <a:br/>
            <a:r>
              <a:t>    List&lt;ForecastItem&gt; forecastList = session.getAttribute("forecastList");</a:t>
            </a:r>
            <a:br/>
            <a:r>
              <a:t>    String targetDateStr = targetDate.format(</a:t>
            </a:r>
            <a:br/>
            <a:r>
              <a:t>                            DateTimeFormatter.ofPattern("yyyyMMdd"));</a:t>
            </a:r>
            <a:br/>
            <a:br/>
            <a:r>
              <a:t>... (Code Truncated)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0080"/>
                </a:solidFill>
              </a:defRPr>
            </a:pPr>
            <a:r>
              <a:t>4. 주요 코드 설명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4.1 WeatherServlet - 날씨 API 통합 처리</a:t>
            </a:r>
          </a:p>
          <a:p>
            <a:pPr/>
            <a:r>
              <a:t>**역할**: 사용자 지역 기반 3가지 날씨 API 호출 및 세션 저장</a:t>
            </a:r>
          </a:p>
          <a:p>
            <a:pPr lvl="1">
              <a:defRPr b="1"/>
            </a:pPr>
            <a:r>
              <a:t>핵심 메서드</a:t>
            </a:r>
          </a:p>
          <a:p>
            <a:pPr lvl="1">
              <a:defRPr b="1"/>
            </a:pPr>
            <a:r>
              <a:t>URL 생성 메서드</a:t>
            </a:r>
          </a:p>
          <a:p>
            <a:pPr>
              <a:defRPr b="1"/>
            </a:pPr>
            <a:r>
              <a:t>4.2 GeminiClient - AI API 연동</a:t>
            </a:r>
          </a:p>
          <a:p>
            <a:pPr/>
            <a:r>
              <a:t>**역할**: Google Gemini API 호출 및 응답 처리</a:t>
            </a:r>
          </a:p>
          <a:p>
            <a:pPr>
              <a:defRPr b="1"/>
            </a:pPr>
            <a:r>
              <a:t>4.3 TpoRecommendServlet - 추천 요청 처리</a:t>
            </a:r>
          </a:p>
          <a:p>
            <a:pPr/>
            <a:r>
              <a:t>**역할**: 사용자 입력과 날씨 데이터를 통합하여 AI 추천 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365760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protected void doGet(HttpServletRequest request,</a:t>
            </a:r>
            <a:br/>
            <a:r>
              <a:t>                    HttpServletResponse response) {</a:t>
            </a:r>
            <a:br/>
            <a:r>
              <a:t>    HttpSession session = request.getSession();</a:t>
            </a:r>
            <a:br/>
            <a:r>
              <a:t>    UserDTO udto = (UserDTO) session.getAttribute("udto");</a:t>
            </a:r>
            <a:br/>
            <a:br/>
            <a:r>
              <a:t>    // 1. 좌표 설정 (로그인 시 사용자 지역, 비로그인 시 기본값)</a:t>
            </a:r>
            <a:br/>
            <a:r>
              <a:t>    String nx = "60", ny = "127";  // 기본: 서울 종로구</a:t>
            </a:r>
            <a:br/>
            <a:r>
              <a:t>    if (udto != null) {</a:t>
            </a:r>
            <a:br/>
            <a:r>
              <a:t>        Point pt = LocationCoord.getCoordinate(</a:t>
            </a:r>
            <a:br/>
            <a:r>
              <a:t>                        udto.getRegion(), udto.getSigungu());</a:t>
            </a:r>
            <a:br/>
            <a:r>
              <a:t>        nx = pt.x;</a:t>
            </a:r>
            <a:br/>
            <a:r>
              <a:t>        ny = pt.y;</a:t>
            </a:r>
            <a:br/>
            <a:r>
              <a:t>    }</a:t>
            </a:r>
            <a:br/>
            <a:br/>
            <a:r>
              <a:t>    // 2. 초단기실황 호출</a:t>
            </a:r>
            <a:br/>
            <a:r>
              <a:t>    String ultraSrtNcstUrl = buildUrl("getUltraSrtNcst",</a:t>
            </a:r>
            <a:br/>
            <a:r>
              <a:t>                                       liveBaseDate, liveBaseTime, nx, ny);</a:t>
            </a:r>
            <a:br/>
            <a:r>
              <a:t>    String jsonResponse = readUrl(ultraSrtNcstUrl);</a:t>
            </a:r>
            <a:br/>
            <a:r>
              <a:t>    session.setAttribute("t1h", extractValue(jsonResponse, "T1H"));</a:t>
            </a:r>
            <a:br/>
            <a:r>
              <a:t>    session.setAttribute("PTY", extractValue(jsonResponse, "PTY"));</a:t>
            </a:r>
            <a:br/>
            <a:br/>
            <a:r>
              <a:t>    // 3. 단기예보 호출</a:t>
            </a:r>
            <a:br/>
            <a:r>
              <a:t>    String fcstUrl = buildUrl("getVilageFcst",</a:t>
            </a:r>
            <a:br/>
            <a:r>
              <a:t>                              fcstBaseDate, fcstBaseTime, nx, ny);</a:t>
            </a:r>
            <a:br/>
            <a:r>
              <a:t>    List&lt;ForecastItem&gt; forecastList = parseFore</a:t>
            </a:r>
            <a:br/>
            <a:r>
              <a:t>... (Code Truncated)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365760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private String buildUrl(String apiType, String baseDate,</a:t>
            </a:r>
            <a:br/>
            <a:r>
              <a:t>                       String baseTime, String nx, String ny) {</a:t>
            </a:r>
            <a:br/>
            <a:r>
              <a:t>    StringBuilder urlBuilder = new StringBuilder(</a:t>
            </a:r>
            <a:br/>
            <a:r>
              <a:t>        "http://apis.data.go.kr/1360000/VilageFcstInfoService_2.0/"</a:t>
            </a:r>
            <a:br/>
            <a:r>
              <a:t>        + apiType);</a:t>
            </a:r>
            <a:br/>
            <a:br/>
            <a:r>
              <a:t>    urlBuilder.append("?" + URLEncoder.encode("serviceKey", "UTF-8")</a:t>
            </a:r>
            <a:br/>
            <a:r>
              <a:t>        + "=" + SERVICE_KEY);</a:t>
            </a:r>
            <a:br/>
            <a:r>
              <a:t>    urlBuilder.append("&amp;" + URLEncoder.encode("pageNo", "UTF-8") + "=1");</a:t>
            </a:r>
            <a:br/>
            <a:r>
              <a:t>    urlBuilder.append("&amp;" + URLEncoder.encode("numOfRows", "UTF-8") + "=1000");</a:t>
            </a:r>
            <a:br/>
            <a:r>
              <a:t>    urlBuilder.append("&amp;" + URLEncoder.encode("dataType", "UTF-8") + "=JSON");</a:t>
            </a:r>
            <a:br/>
            <a:r>
              <a:t>    urlBuilder.append("&amp;" + URLEncoder.encode("base_date", "UTF-8")</a:t>
            </a:r>
            <a:br/>
            <a:r>
              <a:t>        + "=" + URLEncoder.encode(baseDate, "UTF-8"));</a:t>
            </a:r>
            <a:br/>
            <a:r>
              <a:t>    urlBuilder.append("&amp;" + URLEncoder.encode("base_time", "UTF-8")</a:t>
            </a:r>
            <a:br/>
            <a:r>
              <a:t>        + "=" + URLEncoder.encode(baseTime, "UTF-8"));</a:t>
            </a:r>
            <a:br/>
            <a:r>
              <a:t>    urlBuilder.append("&amp;" + URLEncoder.encode("nx", "UTF-8")</a:t>
            </a:r>
            <a:br/>
            <a:r>
              <a:t>        + "=" + URLEncoder.encode(nx, "UTF-8"));</a:t>
            </a:r>
            <a:br/>
            <a:r>
              <a:t>    urlBuilder.append("&amp;" + URLEncoder.encode("ny", </a:t>
            </a:r>
            <a:br/>
            <a:r>
              <a:t>... (Code Truncated)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229600" cy="365760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public String generate(String prompt) throws IOException {</a:t>
            </a:r>
            <a:br/>
            <a:r>
              <a:t>    // 1. JSON 요청 생성</a:t>
            </a:r>
            <a:br/>
            <a:r>
              <a:t>    JsonObject root = new JsonObject();</a:t>
            </a:r>
            <a:br/>
            <a:r>
              <a:t>    JsonArray contents = new JsonArray();</a:t>
            </a:r>
            <a:br/>
            <a:r>
              <a:t>    JsonObject content = new JsonObject();</a:t>
            </a:r>
            <a:br/>
            <a:r>
              <a:t>    JsonArray parts = new JsonArray();</a:t>
            </a:r>
            <a:br/>
            <a:r>
              <a:t>    JsonObject partText = new JsonObject();</a:t>
            </a:r>
            <a:br/>
            <a:br/>
            <a:r>
              <a:t>    partText.addProperty("text", prompt);</a:t>
            </a:r>
            <a:br/>
            <a:r>
              <a:t>    parts.add(partText);</a:t>
            </a:r>
            <a:br/>
            <a:r>
              <a:t>    content.add("parts", parts);</a:t>
            </a:r>
            <a:br/>
            <a:r>
              <a:t>    contents.add(content);</a:t>
            </a:r>
            <a:br/>
            <a:r>
              <a:t>    root.add("contents", contents);</a:t>
            </a:r>
            <a:br/>
            <a:br/>
            <a:r>
              <a:t>    String jsonRequest = gson.toJson(root);</a:t>
            </a:r>
            <a:br/>
            <a:br/>
            <a:r>
              <a:t>    // 2. POST 요청</a:t>
            </a:r>
            <a:br/>
            <a:r>
              <a:t>    URL url = new URL(ENDPOINT + "?key=" + apiKey);</a:t>
            </a:r>
            <a:br/>
            <a:r>
              <a:t>    HttpURLConnection conn = (HttpURLConnection) url.openConnection();</a:t>
            </a:r>
            <a:br/>
            <a:r>
              <a:t>    conn.setRequestMethod("POST");</a:t>
            </a:r>
            <a:br/>
            <a:r>
              <a:t>    conn.setRequestProperty("Content-Type",</a:t>
            </a:r>
            <a:br/>
            <a:r>
              <a:t>                           "application/json; charset=UTF-8");</a:t>
            </a:r>
            <a:br/>
            <a:r>
              <a:t>    conn.setDoOutput(true);</a:t>
            </a:r>
            <a:br/>
            <a:br/>
            <a:r>
              <a:t>    try (OutputStream os = conn.getOutputStream()) {</a:t>
            </a:r>
            <a:br/>
            <a:r>
              <a:t>        os.write(jsonRequest.getBytes(StandardCharsets.UTF_8));</a:t>
            </a:r>
            <a:br/>
            <a:r>
              <a:t>    }</a:t>
            </a:r>
            <a:br/>
            <a:br/>
            <a:r>
              <a:t>    // 3. 응답 읽기</a:t>
            </a:r>
            <a:br/>
            <a:r>
              <a:t>    int status = conn.getResponseCode();</a:t>
            </a:r>
            <a:br/>
            <a:r>
              <a:t>    Buffe</a:t>
            </a:r>
            <a:br/>
            <a:r>
              <a:t>... (Code Truncated)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8229600" cy="365760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protected void doPost(HttpServletRequest request,</a:t>
            </a:r>
            <a:br/>
            <a:r>
              <a:t>                     HttpServletResponse response) {</a:t>
            </a:r>
            <a:br/>
            <a:r>
              <a:t>    // 1. 로그인 체크</a:t>
            </a:r>
            <a:br/>
            <a:r>
              <a:t>    UserDTO sessionUser = (UserDTO) session.getAttribute("udto");</a:t>
            </a:r>
            <a:br/>
            <a:r>
              <a:t>    if (sessionUser == null) {</a:t>
            </a:r>
            <a:br/>
            <a:r>
              <a:t>        response.sendRedirect(request.getContextPath() + "/index.jsp");</a:t>
            </a:r>
            <a:br/>
            <a:r>
              <a:t>        return;</a:t>
            </a:r>
            <a:br/>
            <a:r>
              <a:t>    }</a:t>
            </a:r>
            <a:br/>
            <a:br/>
            <a:r>
              <a:t>    // 2. 세션에서 날씨 데이터 조회</a:t>
            </a:r>
            <a:br/>
            <a:r>
              <a:t>    String t1h = (String) session.getAttribute("t1h");</a:t>
            </a:r>
            <a:br/>
            <a:r>
              <a:t>    String reh = (String) session.getAttribute("reh");</a:t>
            </a:r>
            <a:br/>
            <a:r>
              <a:t>    String regionName = (String) session.getAttribute("currentRegion");</a:t>
            </a:r>
            <a:br/>
            <a:r>
              <a:t>    List&lt;ForecastItem&gt; forecastList =</a:t>
            </a:r>
            <a:br/>
            <a:r>
              <a:t>        (List&lt;ForecastItem&gt;) session.getAttribute("forecastList");</a:t>
            </a:r>
            <a:br/>
            <a:br/>
            <a:r>
              <a:t>    // 3. 사용자 입력 날짜의 날씨 정보 생성</a:t>
            </a:r>
            <a:br/>
            <a:r>
              <a:t>    StringBuilder weatherInfo = new StringBuilder();</a:t>
            </a:r>
            <a:br/>
            <a:r>
              <a:t>    weatherInfo.append("위치: ").append(regionName).append(", ");</a:t>
            </a:r>
            <a:br/>
            <a:br/>
            <a:r>
              <a:t>    // 날짜 차이 계산하여 단기/중기 선택</a:t>
            </a:r>
            <a:br/>
            <a:r>
              <a:t>    long daysDiff = ...;</a:t>
            </a:r>
            <a:br/>
            <a:r>
              <a:t>    if (daysDiff &gt;= 5 &amp;&amp; daysDiff &lt;= 12) {</a:t>
            </a:r>
            <a:br/>
            <a:r>
              <a:t>        // 중기예보 사용</a:t>
            </a:r>
            <a:br/>
            <a:r>
              <a:t>    } else {</a:t>
            </a:r>
            <a:br/>
            <a:r>
              <a:t>        // 단기예보 사용</a:t>
            </a:r>
            <a:br/>
            <a:r>
              <a:t>    }</a:t>
            </a:r>
            <a:br/>
            <a:br/>
            <a:r>
              <a:t>    // 4. TpoRequest 생성</a:t>
            </a:r>
            <a:br/>
            <a:r>
              <a:t>    TpoRequest req = new TpoRequest();</a:t>
            </a:r>
            <a:br/>
            <a:r>
              <a:t>    req.set</a:t>
            </a:r>
            <a:br/>
            <a:r>
              <a:t>... (Code Truncated)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0080"/>
                </a:solidFill>
              </a:defRPr>
            </a:pPr>
            <a:r>
              <a:t>5. 개발 과정 및 개선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5.1 주요 업데이트 내역</a:t>
            </a:r>
          </a:p>
          <a:p>
            <a:pPr lvl="1">
              <a:defRPr b="1"/>
            </a:pPr>
            <a:r>
              <a:t>✨ 2025.12.06 - 중기예보 로직 정밀 개선</a:t>
            </a:r>
          </a:p>
          <a:p>
            <a:pPr/>
            <a:r>
              <a:t>날짜 매핑 수정: `targetDay = daysDiff`로 정확히 매칭</a:t>
            </a:r>
          </a:p>
          <a:p>
            <a:pPr/>
            <a:r>
              <a:t>API 범위 제한 처리: 8일 이후는 기온만 제공</a:t>
            </a:r>
          </a:p>
          <a:p>
            <a:pPr/>
            <a:r>
              <a:t>사용자 안내: 입력 폼에 "7일 이후는 기온만 제공" 명시</a:t>
            </a:r>
          </a:p>
          <a:p>
            <a:pPr lvl="1">
              <a:defRPr b="1"/>
            </a:pPr>
            <a:r>
              <a:t>🎨 2025.12.06 - UI/UX 개선</a:t>
            </a:r>
          </a:p>
          <a:p>
            <a:pPr/>
            <a:r>
              <a:t>AI 추천 텍스트 왼쪽 정렬 (`.result-box` 스타일 추가)</a:t>
            </a:r>
          </a:p>
          <a:p>
            <a:pPr/>
            <a:r>
              <a:t>버튼 높이 통일 (`btn-navigation` 클래스 사용)</a:t>
            </a:r>
          </a:p>
          <a:p>
            <a:pPr/>
            <a:r>
              <a:t>선택 이유 표시 섹션 추가</a:t>
            </a:r>
          </a:p>
          <a:p>
            <a:pPr lvl="1">
              <a:defRPr b="1"/>
            </a:pPr>
            <a:r>
              <a:t>🌤️ 2025.12.06 - 날씨 기능 고도화</a:t>
            </a:r>
          </a:p>
          <a:p>
            <a:pPr/>
            <a:r>
              <a:t>동적 날씨 이모지: 강수형태(PTY), 하늘상태(SKY), 시간대 고려</a:t>
            </a:r>
          </a:p>
          <a:p>
            <a:pPr/>
            <a:r>
              <a:t>SKY 값 세션 저장으로 정확한 날씨 이모지 표시</a:t>
            </a:r>
          </a:p>
          <a:p>
            <a:pPr/>
            <a:r>
              <a:t>강수확률(POP) 표시: 단기예보에서 추출</a:t>
            </a:r>
          </a:p>
          <a:p>
            <a:pPr lvl="1">
              <a:defRPr b="1"/>
            </a:pPr>
            <a:r>
              <a:t>🤖 2025.12.06 - AI 추천 기능 개선</a:t>
            </a:r>
          </a:p>
          <a:p>
            <a:pPr/>
            <a:r>
              <a:t>사용자 입력 날짜의 날씨 반영</a:t>
            </a:r>
          </a:p>
          <a:p>
            <a:pPr/>
            <a:r>
              <a:t>3일 이내: 단기예보에서 최저/최고 기온 추출</a:t>
            </a:r>
          </a:p>
          <a:p>
            <a:pPr/>
            <a:r>
              <a:t>3일 이후: 중기예보 데이터 활용</a:t>
            </a:r>
          </a:p>
          <a:p>
            <a:pPr/>
            <a:r>
              <a:t>AI 응답 파싱 디버깅 로직 추가</a:t>
            </a:r>
          </a:p>
          <a:p>
            <a:pPr>
              <a:defRPr b="1"/>
            </a:pPr>
            <a:r>
              <a:t>5.2 기술적 도전과제와 해결</a:t>
            </a:r>
          </a:p>
          <a:p>
            <a:pPr lvl="1">
              <a:defRPr b="1"/>
            </a:pPr>
            <a:r>
              <a:t>🔧 문제 1: 기상청 API 발표 시각 처리</a:t>
            </a:r>
          </a:p>
          <a:p>
            <a:pPr/>
            <a:r>
              <a:t>**문제**:</a:t>
            </a:r>
          </a:p>
          <a:p>
            <a:pPr/>
            <a:r>
              <a:t>단기예보는 하루 8번 발표되지만, 발표 직후에는 데이터가 불안정</a:t>
            </a:r>
          </a:p>
          <a:p>
            <a:pPr/>
            <a:r>
              <a:t>잘못된 시각 조회 시 빈 데이터 반환</a:t>
            </a:r>
          </a:p>
          <a:p>
            <a:pPr/>
            <a:r>
              <a:t>**해결**:</a:t>
            </a:r>
          </a:p>
          <a:p>
            <a:pPr lvl="1">
              <a:defRPr b="1"/>
            </a:pPr>
            <a:r>
              <a:t>🔧 문제 2: 중기예보 날짜 매핑 오류</a:t>
            </a:r>
          </a:p>
          <a:p>
            <a:pPr/>
            <a:r>
              <a:t>**문제**: `taMin3`, `taMax3`가 "오늘+3일"인지 "3일째"인지 불명확</a:t>
            </a:r>
          </a:p>
          <a:p>
            <a:pPr/>
            <a:r>
              <a:t>**해결**:</a:t>
            </a:r>
          </a:p>
          <a:p>
            <a:pPr/>
            <a:r>
              <a:t>기상청 API 문서 재확인</a:t>
            </a:r>
          </a:p>
          <a:p>
            <a:pPr/>
            <a:r>
              <a:t>`targetDay = daysDiff`로 직접 매핑</a:t>
            </a:r>
          </a:p>
          <a:p>
            <a:pPr/>
            <a:r>
              <a:t>디버그 로그로 검증</a:t>
            </a:r>
          </a:p>
          <a:p>
            <a:pPr lvl="1">
              <a:defRPr b="1"/>
            </a:pPr>
            <a:r>
              <a:t>🔧 문제 3: 전국 좌표 데이터 관리</a:t>
            </a:r>
          </a:p>
          <a:p>
            <a:pPr/>
            <a:r>
              <a:t>**문제**: 250+ 개 시군구 좌표를 어떻게 관리할 것인가?</a:t>
            </a:r>
          </a:p>
          <a:p>
            <a:pPr/>
            <a:r>
              <a:t>**해결**:</a:t>
            </a:r>
          </a:p>
          <a:p>
            <a:pPr/>
            <a:r>
              <a:t>Static HashMap 활용</a:t>
            </a:r>
          </a:p>
          <a:p>
            <a:pPr/>
            <a:r>
              <a:t>`region_sigungu` 형태의 복합 키 사용</a:t>
            </a:r>
          </a:p>
          <a:p>
            <a:pPr/>
            <a:r>
              <a:t>기본값(서울) 설정으로 안정성 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365760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Consolas"/>
              </a:defRPr>
            </a:pPr>
            <a:r>
              <a:t>// 발표 후 10분의 버퍼 시간 추가</a:t>
            </a:r>
            <a:br/>
            <a:r>
              <a:t>if (currentHHmm &gt; bt + 10) {</a:t>
            </a:r>
            <a:br/>
            <a:r>
              <a:t>    fcstBaseTime = baseTimes[i];</a:t>
            </a:r>
            <a:br/>
            <a:r>
              <a:t>    found = true;</a:t>
            </a:r>
            <a:br/>
            <a:r>
              <a:t>    break;</a:t>
            </a:r>
            <a:br/>
            <a:r>
              <a:t>}</a:t>
            </a:r>
            <a:br/>
            <a:br/>
            <a:r>
              <a:t>// 새벽 02:10 이전인 경우 전날 23시 데이터 사용</a:t>
            </a:r>
            <a:br/>
            <a:r>
              <a:t>if (!found) {</a:t>
            </a:r>
            <a:br/>
            <a:r>
              <a:t>    fcstBaseDate = now.minusDays(1).format(...);</a:t>
            </a:r>
            <a:br/>
            <a:r>
              <a:t>    fcstBaseTime = "2300";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0080"/>
                </a:solidFill>
              </a:defRPr>
            </a:pPr>
            <a:r>
              <a:t>6. 학습 내용 및 성과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6.1 백엔드 기술 역량</a:t>
            </a:r>
          </a:p>
          <a:p>
            <a:pPr lvl="1">
              <a:defRPr b="1"/>
            </a:pPr>
            <a:r>
              <a:t>🎯 습득한 기술</a:t>
            </a:r>
          </a:p>
          <a:p>
            <a:pPr/>
            <a:r>
              <a:t>**1. REST API 연동**</a:t>
            </a:r>
          </a:p>
          <a:p>
            <a:pPr/>
            <a:r>
              <a:t>HttpURLConnection을 이용한 HTTP 통신</a:t>
            </a:r>
          </a:p>
          <a:p>
            <a:pPr/>
            <a:r>
              <a:t>URL 파라미터 인코딩 (`URLEncoder`)</a:t>
            </a:r>
          </a:p>
          <a:p>
            <a:pPr/>
            <a:r>
              <a:t>JSON 응답 파싱 (Gson, 정규표현식)</a:t>
            </a:r>
          </a:p>
          <a:p>
            <a:pPr/>
            <a:r>
              <a:t>**2. 외부 API 활용**</a:t>
            </a:r>
          </a:p>
          <a:p>
            <a:pPr/>
            <a:r>
              <a:t>기상청 공공 API 3종 통합</a:t>
            </a:r>
          </a:p>
          <a:p>
            <a:pPr/>
            <a:r>
              <a:t>Google Gemini AI API 연동</a:t>
            </a:r>
          </a:p>
          <a:p>
            <a:pPr/>
            <a:r>
              <a:t>API 키 환경변수 관리</a:t>
            </a:r>
          </a:p>
          <a:p>
            <a:pPr/>
            <a:r>
              <a:t>**3. 객체지향 설계**</a:t>
            </a:r>
          </a:p>
          <a:p>
            <a:pPr/>
            <a:r>
              <a:t>MVC 패턴 적용</a:t>
            </a:r>
          </a:p>
          <a:p>
            <a:pPr/>
            <a:r>
              <a:t>계층화 구조 (Controller-Service-DAO)</a:t>
            </a:r>
          </a:p>
          <a:p>
            <a:pPr/>
            <a:r>
              <a:t>인터페이스 활용 (`LlmClient`)</a:t>
            </a:r>
          </a:p>
          <a:p>
            <a:pPr/>
            <a:r>
              <a:t>**4. 세션 관리**</a:t>
            </a:r>
          </a:p>
          <a:p>
            <a:pPr/>
            <a:r>
              <a:t>로그인 상태 유지</a:t>
            </a:r>
          </a:p>
          <a:p>
            <a:pPr/>
            <a:r>
              <a:t>날씨 데이터 세션 저장</a:t>
            </a:r>
          </a:p>
          <a:p>
            <a:pPr/>
            <a:r>
              <a:t>접근 제어 구현</a:t>
            </a:r>
          </a:p>
          <a:p>
            <a:pPr/>
            <a:r>
              <a:t>**5. 데이터베이스**</a:t>
            </a:r>
          </a:p>
          <a:p>
            <a:pPr/>
            <a:r>
              <a:t>DAO 패턴</a:t>
            </a:r>
          </a:p>
          <a:p>
            <a:pPr/>
            <a:r>
              <a:t>PreparedStatement (SQL Injection 방지)</a:t>
            </a:r>
          </a:p>
          <a:p>
            <a:pPr/>
            <a:r>
              <a:t>트랜잭션 관리</a:t>
            </a:r>
          </a:p>
          <a:p>
            <a:pPr>
              <a:defRPr b="1"/>
            </a:pPr>
            <a:r>
              <a:t>6.2 문제 해결 능력</a:t>
            </a:r>
          </a:p>
          <a:p>
            <a:pPr/>
            <a:r>
              <a:t>**복잡한 요구사항 분해**:</a:t>
            </a:r>
          </a:p>
          <a:p>
            <a:pPr/>
            <a:r>
              <a:t>"날씨 기반 추천" → 지역 선택 → 좌표 매핑 → API 호출 → 날씨 추출 → AI 프롬프트 생성</a:t>
            </a:r>
          </a:p>
          <a:p>
            <a:pPr/>
            <a:r>
              <a:t>**디버깅 기법**:</a:t>
            </a:r>
          </a:p>
          <a:p>
            <a:pPr/>
            <a:r>
              <a:t>콘솔 로그 활용 (`System.out.println`)</a:t>
            </a:r>
          </a:p>
          <a:p>
            <a:pPr/>
            <a:r>
              <a:t>API 응답 일부 출력하여 검증</a:t>
            </a:r>
          </a:p>
          <a:p>
            <a:pPr/>
            <a:r>
              <a:t>단계별 데이터 확인</a:t>
            </a:r>
          </a:p>
          <a:p>
            <a:pPr/>
            <a:r>
              <a:t>**API 문서 해석**:</a:t>
            </a:r>
          </a:p>
          <a:p>
            <a:pPr/>
            <a:r>
              <a:t>기상청 API 발표시각 이해</a:t>
            </a:r>
          </a:p>
          <a:p>
            <a:pPr/>
            <a:r>
              <a:t>Gemini API JSON 구조 파악</a:t>
            </a:r>
          </a:p>
          <a:p>
            <a:pPr/>
            <a:r>
              <a:t>에러 응답 처리</a:t>
            </a:r>
          </a:p>
          <a:p>
            <a:pPr>
              <a:defRPr b="1"/>
            </a:pPr>
            <a:r>
              <a:t>6.3 프로젝트 성과</a:t>
            </a:r>
          </a:p>
          <a:p>
            <a:pPr lvl="1">
              <a:defRPr b="1"/>
            </a:pPr>
            <a:r>
              <a:t>📊 정량적 성과</a:t>
            </a:r>
          </a:p>
          <a:p>
            <a:pPr/>
            <a:r>
              <a:t>**250+ 개** 시군구 좌표 매핑</a:t>
            </a:r>
          </a:p>
          <a:p>
            <a:pPr/>
            <a:r>
              <a:t>**3가지** 날씨 API 통합</a:t>
            </a:r>
          </a:p>
          <a:p>
            <a:pPr/>
            <a:r>
              <a:t>**1개** AI API 연동</a:t>
            </a:r>
          </a:p>
          <a:p>
            <a:pPr/>
            <a:r>
              <a:t>**8개** 주요 패키지 구조화</a:t>
            </a:r>
          </a:p>
          <a:p>
            <a:pPr lvl="1">
              <a:defRPr b="1"/>
            </a:pPr>
            <a:r>
              <a:t>🏆 정성적 성과</a:t>
            </a:r>
          </a:p>
          <a:p>
            <a:pPr/>
            <a:r>
              <a:t>사용자 맞춤형 서비스 제공</a:t>
            </a:r>
          </a:p>
          <a:p>
            <a:pPr/>
            <a:r>
              <a:t>실시간 날씨 정보 활용</a:t>
            </a:r>
          </a:p>
          <a:p>
            <a:pPr/>
            <a:r>
              <a:t>AI 기반 지능형 추천</a:t>
            </a:r>
          </a:p>
          <a:p>
            <a:pPr/>
            <a:r>
              <a:t>확장 가능한 아키텍처 설계</a:t>
            </a:r>
          </a:p>
          <a:p>
            <a:pPr>
              <a:defRPr b="1"/>
            </a:pPr>
            <a:r>
              <a:t>6.4 개선 및 확장 가능성</a:t>
            </a:r>
          </a:p>
          <a:p>
            <a:pPr/>
            <a:r>
              <a:t>**단기 개선**:</a:t>
            </a:r>
          </a:p>
          <a:p>
            <a:pPr/>
            <a:r>
              <a:t>날씨 아이콘 이미지로 교체</a:t>
            </a:r>
          </a:p>
          <a:p>
            <a:pPr/>
            <a:r>
              <a:t>추천 히스토리 페이징 처리</a:t>
            </a:r>
          </a:p>
          <a:p>
            <a:pPr/>
            <a:r>
              <a:t>암호화 강화 (비밀번호 해싱)</a:t>
            </a:r>
          </a:p>
          <a:p>
            <a:pPr/>
            <a:r>
              <a:t>**장기 확장**:</a:t>
            </a:r>
          </a:p>
          <a:p>
            <a:pPr/>
            <a:r>
              <a:t>쇼핑몰 API 연동 (실제 상품 추천)</a:t>
            </a:r>
          </a:p>
          <a:p>
            <a:pPr/>
            <a:r>
              <a:t>소셜 로그인 (OAuth)</a:t>
            </a:r>
          </a:p>
          <a:p>
            <a:pPr/>
            <a:r>
              <a:t>모바일 앱 개발 (REST API 서버화)</a:t>
            </a:r>
          </a:p>
          <a:p>
            <a:pPr/>
            <a:r>
              <a:t>머신러닝 기반 추천 고도화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0080"/>
                </a:solidFill>
              </a:defRPr>
            </a:pPr>
            <a:r>
              <a:t>📌 주요 학습 포인트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백엔드 개발 핵심</a:t>
            </a:r>
          </a:p>
          <a:p>
            <a:pPr/>
            <a:r>
              <a:t>1. **계층화 설계**: Controller → Service → DAO</a:t>
            </a:r>
          </a:p>
          <a:p>
            <a:pPr/>
            <a:r>
              <a:t>2. **외부 API 연동**: REST API 호출 및 JSON 파싱</a:t>
            </a:r>
          </a:p>
          <a:p>
            <a:pPr/>
            <a:r>
              <a:t>3. **세션 관리**: 사용자 상태 및 데이터 유지</a:t>
            </a:r>
          </a:p>
          <a:p>
            <a:pPr/>
            <a:r>
              <a:t>4. **보안**: API 키 관리, SQL Injection 방지</a:t>
            </a:r>
          </a:p>
          <a:p>
            <a:pPr/>
            <a:r>
              <a:t>5. **예외 처리**: try-catch, 기본값 설정</a:t>
            </a:r>
          </a:p>
          <a:p>
            <a:pPr>
              <a:defRPr b="1"/>
            </a:pPr>
            <a:r>
              <a:t>개발 프로세스</a:t>
            </a:r>
          </a:p>
          <a:p>
            <a:pPr/>
            <a:r>
              <a:t>1. **요구사항 분석** → 기능 정의</a:t>
            </a:r>
          </a:p>
          <a:p>
            <a:pPr/>
            <a:r>
              <a:t>2. **아키텍처 설계** → 계층 및 패키지 구조</a:t>
            </a:r>
          </a:p>
          <a:p>
            <a:pPr/>
            <a:r>
              <a:t>3. **API 연동** → 외부 서비스 활용</a:t>
            </a:r>
          </a:p>
          <a:p>
            <a:pPr/>
            <a:r>
              <a:t>4. **테스트 및 디버깅** → 로그 분석</a:t>
            </a:r>
          </a:p>
          <a:p>
            <a:pPr/>
            <a:r>
              <a:t>5. **개선 및 최적화** → 사용자 피드백 반영</a:t>
            </a:r>
          </a:p>
          <a:p>
            <a:pPr>
              <a:defRPr b="1"/>
            </a:pPr>
            <a:r>
              <a:t>실무 적용 가능 기술</a:t>
            </a:r>
          </a:p>
          <a:p>
            <a:pPr/>
            <a:r>
              <a:t>REST API 설계 및 연동</a:t>
            </a:r>
          </a:p>
          <a:p>
            <a:pPr/>
            <a:r>
              <a:t>JSON 데이터 처리</a:t>
            </a:r>
          </a:p>
          <a:p>
            <a:pPr/>
            <a:r>
              <a:t>세션 기반 인증</a:t>
            </a:r>
          </a:p>
          <a:p>
            <a:pPr/>
            <a:r>
              <a:t>데이터베이스 연동</a:t>
            </a:r>
          </a:p>
          <a:p>
            <a:pPr/>
            <a:r>
              <a:t>외부 AI 서비스 활용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0080"/>
                </a:solidFill>
              </a:defRPr>
            </a:pPr>
            <a:r>
              <a:t>🎓 결론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본 프로젝트를 통해 **백엔드 개발의 전 과정**을 경험했습니다:</a:t>
            </a:r>
          </a:p>
          <a:p>
            <a:pPr/>
            <a:r>
              <a:t>✅ **설계**: MVC 패턴과 계층화 구조</a:t>
            </a:r>
          </a:p>
          <a:p>
            <a:pPr/>
            <a:r>
              <a:t>✅ **구현**: Servlet, JSP, Java 기반 웹 애플리케이션</a:t>
            </a:r>
          </a:p>
          <a:p>
            <a:pPr/>
            <a:r>
              <a:t>✅ **연동**: 기상청 API, Google Gemini AI</a:t>
            </a:r>
          </a:p>
          <a:p>
            <a:pPr/>
            <a:r>
              <a:t>✅ **최적화**: 사용자 경험 개선 및 성능 향상</a:t>
            </a:r>
          </a:p>
          <a:p>
            <a:pPr/>
            <a:r>
              <a:t>특히 **실제 외부 API를 활용한 실용적인 서비스**를 개발하면서, 단순한 CRUD를 넘어 **데이터 통합과 AI 활용**이라는 현대적인 백엔드 개발 역량을 쌓을 수 있었습니다.</a:t>
            </a:r>
          </a:p>
          <a:p>
            <a:pPr/>
            <a:r>
              <a:t>**감사합니다! 🙏**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